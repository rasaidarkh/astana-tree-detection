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system,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A1A1A"/>
                </a:solidFill>
                <a:latin typeface="Times New Roman"/>
              </a:rPr>
              <a:t>System architecture — from satellite tile to GIS 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1277295" cy="310896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77295" cy="310896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Canopy · automated tree-inventory pipeline — no manual step between drawing an area and the downloadable inventory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1529029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1529029" cy="566928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1529029" cy="566928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34056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ESRI World Imagery tiles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63290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Google Satellite tiles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92524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File upload — PNG / JPG / GeoTIFF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21758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Or: draw an area on the map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059381" y="3707891"/>
            <a:ext cx="274320" cy="310896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06853" y="2057400"/>
            <a:ext cx="1529029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6853" y="2057400"/>
            <a:ext cx="1529029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06853" y="2057400"/>
            <a:ext cx="1529029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FRONTEND — React 18 + Leaflet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98293" y="2734056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Pick area · model · confidence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8293" y="3463290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Auto-Zoom / Polygon scan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8293" y="4192524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Live NDJSON progress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98293" y="4921758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Point / Box / Polygon / Heat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09034" y="3707891"/>
            <a:ext cx="274320" cy="310896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6506" y="2057400"/>
            <a:ext cx="1529029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56506" y="2057400"/>
            <a:ext cx="1529029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6506" y="2057400"/>
            <a:ext cx="1529029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API — FastAPI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7946" y="2734056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capture_bbox()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7946" y="3463290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sliding-window tile (640+128)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7946" y="4192524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batch inference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47946" y="4921758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Global NMS cross-tile merge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958687" y="3707891"/>
            <a:ext cx="274320" cy="310896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6159" y="2057400"/>
            <a:ext cx="1529029" cy="3611880"/>
          </a:xfrm>
          <a:prstGeom prst="rect">
            <a:avLst/>
          </a:prstGeom>
          <a:solidFill>
            <a:srgbClr val="FFFFFF"/>
          </a:solidFill>
          <a:ln w="20320">
            <a:solidFill>
              <a:srgbClr val="17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6159" y="2057400"/>
            <a:ext cx="1529029" cy="56692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6159" y="2057400"/>
            <a:ext cx="1529029" cy="56692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MODEL LAYER — swappable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97599" y="2734056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YOLOv8-seg (7 sizes)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97599" y="3463290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Mask R-CNN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7599" y="4192524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DeepForest + SAM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97599" y="4921758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Ensembles: WBF · cross-YOLO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908340" y="3707891"/>
            <a:ext cx="274320" cy="310896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55812" y="2057400"/>
            <a:ext cx="1529029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55812" y="2057400"/>
            <a:ext cx="1529029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55812" y="2057400"/>
            <a:ext cx="1529029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GEO + 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47252" y="2734056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pixel → WGS-84 (4 modes)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47252" y="3463290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SQLite persistence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7252" y="4192524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sessions→snapshots→runs→detections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47252" y="4921758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ON DELETE CASCADE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857993" y="3707891"/>
            <a:ext cx="274320" cy="310896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05466" y="2057400"/>
            <a:ext cx="1529029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05466" y="2057400"/>
            <a:ext cx="1529029" cy="566928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05466" y="2057400"/>
            <a:ext cx="1529029" cy="566928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OUTPUT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96906" y="2734056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City map + density heat-map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96906" y="3463290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Per-area count · coverage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96906" y="4192524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GeoJSON · CSV · standalone HTML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96906" y="4921758"/>
            <a:ext cx="1346149" cy="637794"/>
          </a:xfrm>
          <a:prstGeom prst="rect">
            <a:avLst/>
          </a:prstGeom>
          <a:solidFill>
            <a:srgbClr val="EEF4FB"/>
          </a:solidFill>
          <a:ln w="635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69" b="0">
                <a:solidFill>
                  <a:srgbClr val="33414D"/>
                </a:solidFill>
                <a:latin typeface="Times New Roman"/>
              </a:rPr>
              <a:t>(QGIS / ArcGIS ready)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Six layers, one automated chain. The detection model is just </a:t>
            </a:r>
            <a:r>
              <a:rPr sz="1200" b="1" i="0">
                <a:solidFill>
                  <a:srgbClr val="2E6DB4"/>
                </a:solidFill>
                <a:latin typeface="Times New Roman"/>
              </a:rPr>
              <a:t>one swappable layer</a:t>
            </a:r>
            <a:r>
              <a:rPr sz="1200" b="0" i="0">
                <a:solidFill>
                  <a:srgbClr val="33414D"/>
                </a:solidFill>
                <a:latin typeface="Times New Roman"/>
              </a:rPr>
              <a:t> — a better model drops in without touching capture, tiling, geo or storage.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309360"/>
            <a:ext cx="11277295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373368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System architecture + software · FastAPI · React · SQLite · Leaflet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How one scan is 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1A1A1A"/>
                </a:solidFill>
                <a:latin typeface="Times New Roman"/>
              </a:rPr>
              <a:t>Tiled-inference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589989" cy="91440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58998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Times New Roman"/>
              </a:rPr>
              <a:t>Capture
(~1 km², z19)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589989" cy="91440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102053" y="2596896"/>
            <a:ext cx="237744" cy="292608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4661" y="2148840"/>
            <a:ext cx="158998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4661" y="2148840"/>
            <a:ext cx="158998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Times New Roman"/>
              </a:rPr>
              <a:t>Sliding-window
tile · 640 + 128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4661" y="2148840"/>
            <a:ext cx="158998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039514" y="2596896"/>
            <a:ext cx="237744" cy="292608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2122" y="2148840"/>
            <a:ext cx="1589989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2122" y="2148840"/>
            <a:ext cx="158998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Times New Roman"/>
              </a:rPr>
              <a:t>Per-tile
YOLOv8-seg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2122" y="2148840"/>
            <a:ext cx="1589989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976975" y="2596896"/>
            <a:ext cx="237744" cy="292608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9583" y="2148840"/>
            <a:ext cx="1589989" cy="91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9583" y="2148840"/>
            <a:ext cx="158998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Times New Roman"/>
              </a:rPr>
              <a:t>Translate to
global pixels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9583" y="2148840"/>
            <a:ext cx="1589989" cy="91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914436" y="2596896"/>
            <a:ext cx="237744" cy="292608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07044" y="2148840"/>
            <a:ext cx="1589989" cy="91440"/>
          </a:xfrm>
          <a:prstGeom prst="rect">
            <a:avLst/>
          </a:prstGeom>
          <a:solidFill>
            <a:srgbClr val="3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07044" y="2148840"/>
            <a:ext cx="158998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Times New Roman"/>
              </a:rPr>
              <a:t>Global NMS
dedup · IoU 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7044" y="2148840"/>
            <a:ext cx="1589989" cy="91440"/>
          </a:xfrm>
          <a:prstGeom prst="rect">
            <a:avLst/>
          </a:prstGeom>
          <a:solidFill>
            <a:srgbClr val="3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9851898" y="2596896"/>
            <a:ext cx="237744" cy="292608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4506" y="2148840"/>
            <a:ext cx="1589989" cy="91440"/>
          </a:xfrm>
          <a:prstGeom prst="rect">
            <a:avLst/>
          </a:prstGeom>
          <a:solidFill>
            <a:srgbClr val="4F8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4506" y="2148840"/>
            <a:ext cx="158998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Times New Roman"/>
              </a:rPr>
              <a:t>Instance polygons
+ confidence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4506" y="2148840"/>
            <a:ext cx="1589989" cy="91440"/>
          </a:xfrm>
          <a:prstGeom prst="rect">
            <a:avLst/>
          </a:prstGeom>
          <a:solidFill>
            <a:srgbClr val="4F8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5501487" cy="15544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54864" cy="15544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3959352"/>
            <a:ext cx="5190591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Why tiling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Zoom-19 captures are far larger than 640 px. A sliding window with 128-px overlap lets the model see every crown at native resolution — small street trees aren't shrunk away.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3007" y="3840480"/>
            <a:ext cx="5501487" cy="15544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3007" y="3840480"/>
            <a:ext cx="54864" cy="15544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7599" y="3959352"/>
            <a:ext cx="5190591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Why Global NMS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A crown on a tile boundary is detected twice. After translating all boxes to global coordinates, a greedy NMS pass (IoU &gt; 0.5) keeps the most confident copy — one tree, one detection.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A7682"/>
                </a:solidFill>
                <a:latin typeface="Times New Roman"/>
              </a:rPr>
              <a:t>Same pattern reused at train time (tile the dataset) and at inference time (tile the scan) — identical 640 + 128 geometry.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309360"/>
            <a:ext cx="11277295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373368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Inference pipeline · 640 + 128 sliding 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A component of the system — how the data was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Dataset pipeline — built from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332378" cy="310896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332378" cy="5486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3332378" cy="5486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98064"/>
            <a:ext cx="296661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Google Earth Pro + ESRI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screenshots, zoom 17–19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≈ 0.3 m / pixel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~100 source images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mixed districts of Astana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81018" y="3493008"/>
            <a:ext cx="329184" cy="347472"/>
          </a:xfrm>
          <a:prstGeom prst="rightArrow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9658" y="2103120"/>
            <a:ext cx="3332378" cy="310896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9658" y="2103120"/>
            <a:ext cx="3332378" cy="54864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9658" y="2103120"/>
            <a:ext cx="3332378" cy="54864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ANNOTATE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798064"/>
            <a:ext cx="296661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CVAT polygon labels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single class — “tree”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model-in-the-loop pre-label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~5 500 crown polygons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≈ 25 → 4 min / image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53476" y="3493008"/>
            <a:ext cx="329184" cy="347472"/>
          </a:xfrm>
          <a:prstGeom prst="rightArrow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02116" y="2103120"/>
            <a:ext cx="3332378" cy="310896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02116" y="2103120"/>
            <a:ext cx="3332378" cy="548640"/>
          </a:xfrm>
          <a:prstGeom prst="rect">
            <a:avLst/>
          </a:prstGeom>
          <a:solidFill>
            <a:srgbClr val="F09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2116" y="2103120"/>
            <a:ext cx="3332378" cy="548640"/>
          </a:xfrm>
          <a:prstGeom prst="rect">
            <a:avLst/>
          </a:prstGeom>
          <a:solidFill>
            <a:srgbClr val="F09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TILE &amp;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4996" y="2798064"/>
            <a:ext cx="296661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640 + 128 sliding window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≈ 8 700 tiled instances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COCO → YOLO format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source-level train / val split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▸  held-out M14 = 14 img / 702 trees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7295" cy="502920"/>
          </a:xfrm>
          <a:prstGeom prst="rect">
            <a:avLst/>
          </a:prstGeom>
          <a:solidFill>
            <a:srgbClr val="DCEBFA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4864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577840"/>
            <a:ext cx="1094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73E63"/>
                </a:solidFill>
                <a:latin typeface="Times New Roman"/>
              </a:rPr>
              <a:t>No public Astana tree dataset existed before this work — every polygon is hand-labelled. The dataset is reusable for future research in the region.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09360"/>
            <a:ext cx="11277295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73368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Dataset engineering · CVAT · ~100 imgs · ~5 500 crowns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Four interchangeable engines · one adapter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1A1A"/>
                </a:solidFill>
                <a:latin typeface="Times New Roman"/>
              </a:rPr>
              <a:t>The detection engines behind the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668447" cy="3200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68447" cy="60350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" y="2249424"/>
            <a:ext cx="310896" cy="310896"/>
          </a:xfrm>
          <a:prstGeom prst="ellipse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2211247" cy="60350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350" b="1">
                <a:solidFill>
                  <a:srgbClr val="FFFFFF"/>
                </a:solidFill>
                <a:latin typeface="Times New Roman"/>
              </a:rPr>
              <a:t>YOLOv8-seg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852928"/>
            <a:ext cx="2357551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One-stage, anchor-free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tile → boxes + masks in one pass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23-experiment ablation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Box mAP@50 = 0.315 (champion)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6815" y="2103120"/>
            <a:ext cx="2668447" cy="3200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6815" y="2103120"/>
            <a:ext cx="2668447" cy="603504"/>
          </a:xfrm>
          <a:prstGeom prst="rect">
            <a:avLst/>
          </a:prstGeom>
          <a:solidFill>
            <a:srgbClr val="16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54831" y="2249424"/>
            <a:ext cx="310896" cy="310896"/>
          </a:xfrm>
          <a:prstGeom prst="ellipse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4015" y="2103120"/>
            <a:ext cx="2211247" cy="603504"/>
          </a:xfrm>
          <a:prstGeom prst="rect">
            <a:avLst/>
          </a:prstGeom>
          <a:solidFill>
            <a:srgbClr val="16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350" b="1">
                <a:solidFill>
                  <a:srgbClr val="FFFFFF"/>
                </a:solidFill>
                <a:latin typeface="Times New Roman"/>
              </a:rPr>
              <a:t>Mask R-CNN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1407" y="2852928"/>
            <a:ext cx="2357551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Two-stage, region-based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RPN → RoIAlign → mask head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cleanest instance masks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Box 0.166 · Mask 0.158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6431" y="2103120"/>
            <a:ext cx="2668447" cy="3200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431" y="2103120"/>
            <a:ext cx="2668447" cy="603504"/>
          </a:xfrm>
          <a:prstGeom prst="rect">
            <a:avLst/>
          </a:prstGeom>
          <a:solidFill>
            <a:srgbClr val="6A3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24447" y="2249424"/>
            <a:ext cx="310896" cy="310896"/>
          </a:xfrm>
          <a:prstGeom prst="ellipse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3631" y="2103120"/>
            <a:ext cx="2211247" cy="603504"/>
          </a:xfrm>
          <a:prstGeom prst="rect">
            <a:avLst/>
          </a:prstGeom>
          <a:solidFill>
            <a:srgbClr val="6A3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350" b="1">
                <a:solidFill>
                  <a:srgbClr val="FFFFFF"/>
                </a:solidFill>
                <a:latin typeface="Times New Roman"/>
              </a:rPr>
              <a:t>DeepForest + SAM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2852928"/>
            <a:ext cx="2357551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Crown detector + SAM 2 masks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off-the-shelf 0.012 on Astana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fine-tuned + zero-shot masks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0.012 → 0.146  (×12)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6047" y="2103120"/>
            <a:ext cx="2668447" cy="3200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6047" y="2103120"/>
            <a:ext cx="2668447" cy="6035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4063" y="2249424"/>
            <a:ext cx="310896" cy="310896"/>
          </a:xfrm>
          <a:prstGeom prst="ellipse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3247" y="2103120"/>
            <a:ext cx="2211247" cy="6035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350" b="1">
                <a:solidFill>
                  <a:srgbClr val="FFFFFF"/>
                </a:solidFill>
                <a:latin typeface="Times New Roman"/>
              </a:rPr>
              <a:t>Ensembles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639" y="2852928"/>
            <a:ext cx="2357551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Weighted Box Fusion (YOLO+DF)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cross-YOLO 4-vote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drops single-model false positives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·  choice + combination in-app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solidFill>
            <a:srgbClr val="17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All four implement the same adapter interface — selected per scan from one model picker, scored on the same M14 set.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09360"/>
            <a:ext cx="11277295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73368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Pluggable adapter interface · scored on M14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