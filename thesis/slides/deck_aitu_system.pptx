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9631375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2E6DB4"/>
                </a:solidFill>
                <a:latin typeface="Times New Roman"/>
              </a:rPr>
              <a:t>Development of a Deep-Learning System for Automated Tree Recognition &amp; Green-Space Mapping in Urban Environments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A1A1A"/>
                </a:solidFill>
                <a:latin typeface="Times New Roman"/>
              </a:rPr>
              <a:t>Rasul Aidarkhanov    ·    Berik Sharipov    ·    Anuar Totin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33414D"/>
                </a:solidFill>
                <a:latin typeface="Times New Roman"/>
              </a:rPr>
              <a:t>Supervisor: Syndar Satbayev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6A7682"/>
                </a:solidFill>
                <a:latin typeface="Times New Roman"/>
              </a:rPr>
              <a:t>Astana IT University   ·   6B06101 Computer Science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68680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A1A1A"/>
                </a:solidFill>
                <a:latin typeface="Times New Roman"/>
              </a:rPr>
              <a:t>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60020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01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Relevance of the topic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02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The gap &amp; research aim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03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What this project is — a system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04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Objectives &amp; methods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05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Problem statement · Input / Output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06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Literature review &amp; the gap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07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The automated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160020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08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Data, database &amp; hardware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09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How we measure success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10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Four detection engines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11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Why several models · ensembles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12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Results on one common set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13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Canopy — the system in use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E6DB4"/>
                </a:solidFill>
                <a:latin typeface="Times New Roman"/>
              </a:rPr>
              <a:t>14   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Discussion &amp; 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Presenter — Rasul Aidarkhanov · system + YOLO + web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914400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A1A1A"/>
                </a:solidFill>
                <a:latin typeface="Times New Roman"/>
              </a:rPr>
              <a:t>Relevance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83080"/>
            <a:ext cx="1113099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33414D"/>
                </a:solidFill>
                <a:latin typeface="Times New Roman"/>
              </a:rPr>
              <a:t>Urban trees regulate microclimate, sequester carbon and mitigate the heat-island effect — so a growing city like Astana needs an </a:t>
            </a:r>
            <a:r>
              <a:rPr sz="1700" b="1" i="0">
                <a:solidFill>
                  <a:srgbClr val="1A1A1A"/>
                </a:solidFill>
                <a:latin typeface="Times New Roman"/>
              </a:rPr>
              <a:t>up-to-date, spatially accurate inventory</a:t>
            </a:r>
            <a:r>
              <a:rPr sz="1700" b="0" i="0">
                <a:solidFill>
                  <a:srgbClr val="33414D"/>
                </a:solidFill>
                <a:latin typeface="Times New Roman"/>
              </a:rPr>
              <a:t> of its green infrastructure for planning and climate-adaptation decisions.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33414D"/>
                </a:solidFill>
                <a:latin typeface="Times New Roman"/>
              </a:rPr>
              <a:t>Traditional inventories rely on </a:t>
            </a:r>
            <a:r>
              <a:rPr sz="1700" b="1" i="0">
                <a:solidFill>
                  <a:srgbClr val="1A1A1A"/>
                </a:solidFill>
                <a:latin typeface="Times New Roman"/>
              </a:rPr>
              <a:t>manual field surveys</a:t>
            </a:r>
            <a:r>
              <a:rPr sz="1700" b="0" i="0">
                <a:solidFill>
                  <a:srgbClr val="33414D"/>
                </a:solidFill>
                <a:latin typeface="Times New Roman"/>
              </a:rPr>
              <a:t> — slow, expensive, and outdated before completion. A fundamental scalability problem for any large urban area.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33414D"/>
                </a:solidFill>
                <a:latin typeface="Times New Roman"/>
              </a:rPr>
              <a:t>Deep-learning detection on free satellite imagery is a feasible alternative — but the real gap is that </a:t>
            </a:r>
            <a:r>
              <a:rPr sz="1700" b="1" i="0">
                <a:solidFill>
                  <a:srgbClr val="2E6DB4"/>
                </a:solidFill>
                <a:latin typeface="Times New Roman"/>
              </a:rPr>
              <a:t>no automated process for this exists in Astana at all.</a:t>
            </a:r>
            <a:r>
              <a:rPr sz="1700" b="0" i="0">
                <a:solidFill>
                  <a:srgbClr val="33414D"/>
                </a:solidFill>
                <a:latin typeface="Times New Roman"/>
              </a:rPr>
              <a:t> So the task we set ourselves was an engineering one: build that process.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 · Topic disclosure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71600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Why we couldn't just use an existing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691640"/>
            <a:ext cx="3840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0" b="1" i="0">
                <a:solidFill>
                  <a:srgbClr val="2E6DB4"/>
                </a:solidFill>
                <a:latin typeface="Times New Roman"/>
              </a:rPr>
              <a:t>0.012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783080"/>
            <a:ext cx="7107631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1A1A"/>
                </a:solidFill>
                <a:latin typeface="Times New Roman"/>
              </a:rPr>
              <a:t>Box mAP@50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33414D"/>
                </a:solidFill>
                <a:latin typeface="Times New Roman"/>
              </a:rPr>
              <a:t>A popular ready-made detector (NEON DeepForest), run as-is on Astana. Essentially blind. There was no off-the-shelf system that worked here, so building one was the only option.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3840480"/>
            <a:ext cx="11130991" cy="137160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3840480"/>
            <a:ext cx="54864" cy="13716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950208"/>
            <a:ext cx="10820095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6DB4"/>
                </a:solidFill>
                <a:latin typeface="Times New Roman"/>
              </a:rPr>
              <a:t>Research aim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33414D"/>
                </a:solidFill>
                <a:latin typeface="Times New Roman"/>
              </a:rPr>
              <a:t>Design, build and evaluate an </a:t>
            </a:r>
            <a:r>
              <a:rPr sz="1500" b="1" i="0">
                <a:solidFill>
                  <a:srgbClr val="1A1A1A"/>
                </a:solidFill>
                <a:latin typeface="Times New Roman"/>
              </a:rPr>
              <a:t>automated end-to-end system</a:t>
            </a:r>
            <a:r>
              <a:rPr sz="1500" b="0" i="0">
                <a:solidFill>
                  <a:srgbClr val="33414D"/>
                </a:solidFill>
                <a:latin typeface="Times New Roman"/>
              </a:rPr>
              <a:t> that recognises trees and maps green space from Astana satellite imagery — delivered as a working tool, with detection accuracy reported honestly.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 · 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The thesis, in one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A1A1A"/>
                </a:solidFill>
                <a:latin typeface="Times New Roman"/>
              </a:rPr>
              <a:t>The deliverable is a system — not 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28800"/>
            <a:ext cx="1113099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33414D"/>
                </a:solidFill>
                <a:latin typeface="Times New Roman"/>
              </a:rPr>
              <a:t>Our title says </a:t>
            </a:r>
            <a:r>
              <a:rPr sz="1550" b="1" i="0">
                <a:solidFill>
                  <a:srgbClr val="1A1A1A"/>
                </a:solidFill>
                <a:latin typeface="Times New Roman"/>
              </a:rPr>
              <a:t>“automated … system.”</a:t>
            </a:r>
            <a:r>
              <a:rPr sz="1550" b="0" i="0">
                <a:solidFill>
                  <a:srgbClr val="33414D"/>
                </a:solidFill>
                <a:latin typeface="Times New Roman"/>
              </a:rPr>
              <a:t> So the unit of work isn't “which neural net scores highest” — it's the whole machine that turns a raw satellite capture into a usable, georeferenced tree inventory. Everything else is a </a:t>
            </a:r>
            <a:r>
              <a:rPr sz="1550" b="1" i="0">
                <a:solidFill>
                  <a:srgbClr val="1A1A1A"/>
                </a:solidFill>
                <a:latin typeface="Times New Roman"/>
              </a:rPr>
              <a:t>component of building that: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880360"/>
            <a:ext cx="2645587" cy="123444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880360"/>
            <a:ext cx="54864" cy="12344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990088"/>
            <a:ext cx="2334691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Dataset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What the engine learns from — a means, not the goal.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19" y="2880360"/>
            <a:ext cx="2645587" cy="123444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8819" y="2880360"/>
            <a:ext cx="54864" cy="12344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3411" y="2990088"/>
            <a:ext cx="2334691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The models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Four interchangeable engines that plug into the pipeline.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2880360"/>
            <a:ext cx="2645587" cy="123444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7287" y="2880360"/>
            <a:ext cx="54864" cy="12344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1879" y="2990088"/>
            <a:ext cx="2334691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The experiments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How we tuned the engine — evidence of depth, not the product.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755" y="2880360"/>
            <a:ext cx="2645587" cy="123444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755" y="2880360"/>
            <a:ext cx="54864" cy="12344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0347" y="2990088"/>
            <a:ext cx="2334691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UI &amp; features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What makes it usable by a non-technical operator.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343400"/>
            <a:ext cx="11130991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4343400"/>
            <a:ext cx="54864" cy="1143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453128"/>
            <a:ext cx="10820095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3414D"/>
                </a:solidFill>
                <a:latin typeface="Times New Roman"/>
              </a:rPr>
              <a:t>We could have shipped the bare minimum — one model, a mask, no metrics. Instead we built a </a:t>
            </a:r>
            <a:r>
              <a:rPr sz="1400" b="1" i="0">
                <a:solidFill>
                  <a:srgbClr val="1A1A1A"/>
                </a:solidFill>
                <a:latin typeface="Times New Roman"/>
              </a:rPr>
              <a:t>tool someone at a city service could actually operate.</a:t>
            </a:r>
            <a:r>
              <a:rPr sz="1400" b="0" i="0">
                <a:solidFill>
                  <a:srgbClr val="33414D"/>
                </a:solidFill>
                <a:latin typeface="Times New Roman"/>
              </a:rPr>
              <a:t> The slides that follow lead with the system; the models come later, as parts of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 · Framing — engineering deliverable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68680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A1A1A"/>
                </a:solidFill>
                <a:latin typeface="Times New Roman"/>
              </a:rPr>
              <a:t>Objectives &amp;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37360"/>
            <a:ext cx="5212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6DB4"/>
                </a:solidFill>
                <a:latin typeface="Times New Roman"/>
              </a:rPr>
              <a:t>1.  </a:t>
            </a:r>
            <a:r>
              <a:rPr sz="1600" b="0" i="0">
                <a:solidFill>
                  <a:srgbClr val="33414D"/>
                </a:solidFill>
                <a:latin typeface="Times New Roman"/>
              </a:rPr>
              <a:t>Build an annotated Astana dataset (tiled satellite imagery, instance polygons).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6DB4"/>
                </a:solidFill>
                <a:latin typeface="Times New Roman"/>
              </a:rPr>
              <a:t>2.  </a:t>
            </a:r>
            <a:r>
              <a:rPr sz="1600" b="0" i="0">
                <a:solidFill>
                  <a:srgbClr val="33414D"/>
                </a:solidFill>
                <a:latin typeface="Times New Roman"/>
              </a:rPr>
              <a:t>Train and compare four detection engines — YOLOv8-seg, Mask R-CNN, DeepForest, SAM 2.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6DB4"/>
                </a:solidFill>
                <a:latin typeface="Times New Roman"/>
              </a:rPr>
              <a:t>3.  </a:t>
            </a:r>
            <a:r>
              <a:rPr sz="1600" b="0" i="0">
                <a:solidFill>
                  <a:srgbClr val="33414D"/>
                </a:solidFill>
                <a:latin typeface="Times New Roman"/>
              </a:rPr>
              <a:t>Combine them through ensembles and test whether that helps.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1737360"/>
            <a:ext cx="5212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6DB4"/>
                </a:solidFill>
                <a:latin typeface="Times New Roman"/>
              </a:rPr>
              <a:t>4.  </a:t>
            </a:r>
            <a:r>
              <a:rPr sz="1600" b="0" i="0">
                <a:solidFill>
                  <a:srgbClr val="33414D"/>
                </a:solidFill>
                <a:latin typeface="Times New Roman"/>
              </a:rPr>
              <a:t>Evaluate everything on one common test set for a fair comparison.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6DB4"/>
                </a:solidFill>
                <a:latin typeface="Times New Roman"/>
              </a:rPr>
              <a:t>5.  </a:t>
            </a:r>
            <a:r>
              <a:rPr sz="1600" b="0" i="0">
                <a:solidFill>
                  <a:srgbClr val="33414D"/>
                </a:solidFill>
                <a:latin typeface="Times New Roman"/>
              </a:rPr>
              <a:t>Wrap it all in an automated web application — the deliverable that ties tasks 1–4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4297680"/>
            <a:ext cx="11130991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4297680"/>
            <a:ext cx="54864" cy="109728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4407408"/>
            <a:ext cx="10820095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Methods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3414D"/>
                </a:solidFill>
                <a:latin typeface="Times New Roman"/>
              </a:rPr>
              <a:t>Supervised deep learning · transfer learning from pretrained weights · sliding-window tiling · pixel → WGS-84 geo-referencing · mAP@50 as the single comparison metric · software engineering (FastAPI · React · SQLite).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 · Tasks &amp;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68680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A1A1A"/>
                </a:solidFill>
                <a:latin typeface="Times New Roman"/>
              </a:rPr>
              <a:t>Problem statement — Input /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691640"/>
            <a:ext cx="5428335" cy="237744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691640"/>
            <a:ext cx="54864" cy="23774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801368"/>
            <a:ext cx="5117439" cy="2157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Input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414D"/>
                </a:solidFill>
                <a:latin typeface="Times New Roman"/>
              </a:rPr>
              <a:t>A satellite capture of an area of Astana at zoom 19 (~0.3 m/px) — uploaded, or drawn on a map and auto-fetched from </a:t>
            </a:r>
            <a:r>
              <a:rPr sz="1350" b="1" i="0">
                <a:solidFill>
                  <a:srgbClr val="1A1A1A"/>
                </a:solidFill>
                <a:latin typeface="Times New Roman"/>
              </a:rPr>
              <a:t>ESRI or Google</a:t>
            </a:r>
            <a:r>
              <a:rPr sz="1350" b="0" i="0">
                <a:solidFill>
                  <a:srgbClr val="33414D"/>
                </a:solidFill>
                <a:latin typeface="Times New Roman"/>
              </a:rPr>
              <a:t> tiles — cut into overlapping </a:t>
            </a:r>
            <a:r>
              <a:rPr sz="1350" b="1" i="0">
                <a:solidFill>
                  <a:srgbClr val="1A1A1A"/>
                </a:solidFill>
                <a:latin typeface="Times New Roman"/>
              </a:rPr>
              <a:t>640 px RGB tiles.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414D"/>
                </a:solidFill>
                <a:latin typeface="Times New Roman"/>
              </a:rPr>
              <a:t>Plus the operator's choices: model, confidence, geo-mode.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691640"/>
            <a:ext cx="5428335" cy="237744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691640"/>
            <a:ext cx="54864" cy="23774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7599" y="1801368"/>
            <a:ext cx="5117439" cy="2157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Output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414D"/>
                </a:solidFill>
                <a:latin typeface="Times New Roman"/>
              </a:rPr>
              <a:t>For every detected tree: a bounding box, an instance mask, a confidence score, crown area and lat/lng.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414D"/>
                </a:solidFill>
                <a:latin typeface="Times New Roman"/>
              </a:rPr>
              <a:t>Tiles are stitched, duplicates merged, results shown on a map with per-area counts and </a:t>
            </a:r>
            <a:r>
              <a:rPr sz="1350" b="1" i="0">
                <a:solidFill>
                  <a:srgbClr val="1A1A1A"/>
                </a:solidFill>
                <a:latin typeface="Times New Roman"/>
              </a:rPr>
              <a:t>GeoJSON / CSV / HTML</a:t>
            </a:r>
            <a:r>
              <a:rPr sz="1350" b="0" i="0">
                <a:solidFill>
                  <a:srgbClr val="33414D"/>
                </a:solidFill>
                <a:latin typeface="Times New Roman"/>
              </a:rPr>
              <a:t> export.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4297680"/>
            <a:ext cx="11130991" cy="86868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4297680"/>
            <a:ext cx="54864" cy="86868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407408"/>
            <a:ext cx="10820095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1A1A"/>
                </a:solidFill>
                <a:latin typeface="Times New Roman"/>
              </a:rPr>
              <a:t>capture  →  tile  →  model f(·)  →  { box, mask, conf, area, lat/lng }  →  merge &amp; map &amp; export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 · Problem formulation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914400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1A1A1A"/>
                </a:solidFill>
                <a:latin typeface="Times New Roman"/>
              </a:rPr>
              <a:t>Literature review — what others report, and the gap each leaves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508760"/>
          <a:ext cx="11082527" cy="31112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2148840"/>
                <a:gridCol w="1600200"/>
                <a:gridCol w="1417320"/>
                <a:gridCol w="404164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76200" marR="63500" marT="38100" marB="38100" anchor="ctr">
                    <a:solidFill>
                      <a:srgbClr val="173E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Authors · year</a:t>
                      </a:r>
                    </a:p>
                  </a:txBody>
                  <a:tcPr marL="76200" marR="63500" marT="38100" marB="38100" anchor="ctr">
                    <a:solidFill>
                      <a:srgbClr val="173E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</a:t>
                      </a:r>
                    </a:p>
                  </a:txBody>
                  <a:tcPr marL="76200" marR="63500" marT="38100" marB="38100" anchor="ctr">
                    <a:solidFill>
                      <a:srgbClr val="173E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Best metric</a:t>
                      </a:r>
                    </a:p>
                  </a:txBody>
                  <a:tcPr marL="76200" marR="63500" marT="38100" marB="38100" anchor="ctr">
                    <a:solidFill>
                      <a:srgbClr val="173E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Gap for our problem</a:t>
                      </a:r>
                    </a:p>
                  </a:txBody>
                  <a:tcPr marL="76200" marR="63500" marT="38100" marB="38100" anchor="ctr">
                    <a:solidFill>
                      <a:srgbClr val="173E6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Times New Roman"/>
                        </a:rPr>
                        <a:t>Mask R-CNN (MCAN)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Lv et al. · 2023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UAV RGB, China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E6DB4"/>
                          </a:solidFill>
                          <a:latin typeface="Times New Roman"/>
                        </a:rPr>
                        <a:t>Det AP 92.4%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1">
                          <a:solidFill>
                            <a:srgbClr val="33414D"/>
                          </a:solidFill>
                          <a:latin typeface="Times New Roman"/>
                        </a:rPr>
                        <a:t>Forest UAV, not urban satellite; research result only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Times New Roman"/>
                        </a:rPr>
                        <a:t>RetinaNet / Faster R-CNN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dos Santos et al. · 2019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UAV RGB, Brazil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E6DB4"/>
                          </a:solidFill>
                          <a:latin typeface="Times New Roman"/>
                        </a:rPr>
                        <a:t>AP 82–93%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1">
                          <a:solidFill>
                            <a:srgbClr val="33414D"/>
                          </a:solidFill>
                          <a:latin typeface="Times New Roman"/>
                        </a:rPr>
                        <a:t>Detection only — no segmentation, no system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Times New Roman"/>
                        </a:rPr>
                        <a:t>YOLOv12m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Abbas &amp; Damaševičius · 2025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RGB satellite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E6DB4"/>
                          </a:solidFill>
                          <a:latin typeface="Times New Roman"/>
                        </a:rPr>
                        <a:t>mAP@50 90.8%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1">
                          <a:solidFill>
                            <a:srgbClr val="33414D"/>
                          </a:solidFill>
                          <a:latin typeface="Times New Roman"/>
                        </a:rPr>
                        <a:t>Benchmark on a clean public set; no deployable tool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Times New Roman"/>
                        </a:rPr>
                        <a:t>DeepLabV3+ / U-Net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Martins 2021 / Wang 2021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Aerial 10–32 cm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E6DB4"/>
                          </a:solidFill>
                          <a:latin typeface="Times New Roman"/>
                        </a:rPr>
                        <a:t>F1 91% · IoU 96%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1">
                          <a:solidFill>
                            <a:srgbClr val="33414D"/>
                          </a:solidFill>
                          <a:latin typeface="Times New Roman"/>
                        </a:rPr>
                        <a:t>Semantic mask, not per-tree; not Central Asia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Times New Roman"/>
                        </a:rPr>
                        <a:t>DeepForest (off→fine)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Ventura et al. · 2024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NAIP 60 cm, USA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E6DB4"/>
                          </a:solidFill>
                          <a:latin typeface="Times New Roman"/>
                        </a:rPr>
                        <a:t>F 0.42 → 0.73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1">
                          <a:solidFill>
                            <a:srgbClr val="33414D"/>
                          </a:solidFill>
                          <a:latin typeface="Times New Roman"/>
                        </a:rPr>
                        <a:t>US imagery; collapses without local fine-tuning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Times New Roman"/>
                        </a:rPr>
                        <a:t>YOLOv5x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Velasquez-Camacho · 2023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Ground-level, Spain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E6DB4"/>
                          </a:solidFill>
                          <a:latin typeface="Times New Roman"/>
                        </a:rPr>
                        <a:t>F1 84.9%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1">
                          <a:solidFill>
                            <a:srgbClr val="33414D"/>
                          </a:solidFill>
                          <a:latin typeface="Times New Roman"/>
                        </a:rPr>
                        <a:t>Europe, ground-level; no GIS/coordinate pipeline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Times New Roman"/>
                        </a:rPr>
                        <a:t>DeepForest (urban)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Dakov &amp; Petrova-Antonova · 2024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14D"/>
                          </a:solidFill>
                          <a:latin typeface="Times New Roman"/>
                        </a:rPr>
                        <a:t>Aerial, Sofia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E6DB4"/>
                          </a:solidFill>
                          <a:latin typeface="Times New Roman"/>
                        </a:rPr>
                        <a:t>F1 0.67–0.69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1">
                          <a:solidFill>
                            <a:srgbClr val="33414D"/>
                          </a:solidFill>
                          <a:latin typeface="Times New Roman"/>
                        </a:rPr>
                        <a:t>Closest analogue — but Europe, still research-only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4892040"/>
            <a:ext cx="1113099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1">
                <a:solidFill>
                  <a:srgbClr val="33414D"/>
                </a:solidFill>
                <a:latin typeface="Times New Roman"/>
              </a:rPr>
              <a:t>Every study reports high accuracy — on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its own region and sensor</a:t>
            </a:r>
            <a:r>
              <a:rPr sz="1300" b="0" i="1">
                <a:solidFill>
                  <a:srgbClr val="33414D"/>
                </a:solidFill>
                <a:latin typeface="Times New Roman"/>
              </a:rPr>
              <a:t>, as a research result. Overall limitation: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none was tested on Central Asia, and none delivers a deployable, operator-run system.</a:t>
            </a:r>
            <a:r>
              <a:rPr sz="1300" b="0" i="1">
                <a:solidFill>
                  <a:srgbClr val="33414D"/>
                </a:solidFill>
                <a:latin typeface="Times New Roman"/>
              </a:rPr>
              <a:t>  That gap — not a higher mAP — is what this project fills. (31 references reviewed.)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 · Critical literature analysis · ≥ 20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The core of the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A1A1A"/>
                </a:solidFill>
                <a:latin typeface="Times New Roman"/>
              </a:rPr>
              <a:t>The automated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874519"/>
            <a:ext cx="4297680" cy="45720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Front end — React 18 + Leaflet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441448"/>
            <a:ext cx="4297680" cy="457200"/>
          </a:xfrm>
          <a:prstGeom prst="rect">
            <a:avLst/>
          </a:prstGeom>
          <a:solidFill>
            <a:srgbClr val="1E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API — FastAPI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008376"/>
            <a:ext cx="4297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Sliding-window tiling (640 + 128)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3575303"/>
            <a:ext cx="4297680" cy="457200"/>
          </a:xfrm>
          <a:prstGeom prst="rect">
            <a:avLst/>
          </a:prstGeom>
          <a:solidFill>
            <a:srgbClr val="17A2C9"/>
          </a:solidFill>
          <a:ln w="19050">
            <a:solidFill>
              <a:srgbClr val="17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Engine — swappable (YOLO · M-RCNN · DF · Ensemble)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4142231"/>
            <a:ext cx="4297680" cy="457200"/>
          </a:xfrm>
          <a:prstGeom prst="rect">
            <a:avLst/>
          </a:prstGeom>
          <a:solidFill>
            <a:srgbClr val="3F8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Global NMS — cross-tile merge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4709160"/>
            <a:ext cx="4297680" cy="457200"/>
          </a:xfrm>
          <a:prstGeom prst="rect">
            <a:avLst/>
          </a:prstGeom>
          <a:solidFill>
            <a:srgbClr val="3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Geo — pixel → WGS-84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276088"/>
            <a:ext cx="4297680" cy="457200"/>
          </a:xfrm>
          <a:prstGeom prst="rect">
            <a:avLst/>
          </a:prstGeom>
          <a:solidFill>
            <a:srgbClr val="4F8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SQLite store → Map &amp; export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9512" y="2011680"/>
            <a:ext cx="6421831" cy="123444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39512" y="2011680"/>
            <a:ext cx="54864" cy="12344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4104" y="2121408"/>
            <a:ext cx="611093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One automated chain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414D"/>
                </a:solidFill>
                <a:latin typeface="Times New Roman"/>
              </a:rPr>
              <a:t>Capture → tile → detect → merge → georeference → store → map → export. </a:t>
            </a:r>
            <a:r>
              <a:rPr sz="1350" b="1" i="0">
                <a:solidFill>
                  <a:srgbClr val="1A1A1A"/>
                </a:solidFill>
                <a:latin typeface="Times New Roman"/>
              </a:rPr>
              <a:t>No manual step</a:t>
            </a:r>
            <a:r>
              <a:rPr sz="1350" b="0" i="0">
                <a:solidFill>
                  <a:srgbClr val="33414D"/>
                </a:solidFill>
                <a:latin typeface="Times New Roman"/>
              </a:rPr>
              <a:t> between the operator drawing an area and the finished, downloadable inventory.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9512" y="3383280"/>
            <a:ext cx="6421831" cy="123444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39512" y="3383280"/>
            <a:ext cx="54864" cy="12344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4104" y="3493008"/>
            <a:ext cx="611093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Swappable engine — the key design idea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414D"/>
                </a:solidFill>
                <a:latin typeface="Times New Roman"/>
              </a:rPr>
              <a:t>The detection model is just one plug-in step. Swap YOLO for Mask R-CNN, DeepForest or an ensemble without touching the rest — a better model tomorrow drops straight 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9512" y="4754880"/>
            <a:ext cx="6421831" cy="86868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39512" y="4754880"/>
            <a:ext cx="54864" cy="86868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4104" y="4864608"/>
            <a:ext cx="6110935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Performance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414D"/>
                </a:solidFill>
                <a:latin typeface="Times New Roman"/>
              </a:rPr>
              <a:t>~1 km² at zoom 19 in ~18 s on a single laptop GPU, with live streaming progress.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1–2 · System architecture +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Engineering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1A1A1A"/>
                </a:solidFill>
                <a:latin typeface="Times New Roman"/>
              </a:rPr>
              <a:t>A minimal version would do far less — we built a 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965960"/>
            <a:ext cx="5565495" cy="2880360"/>
          </a:xfrm>
          <a:prstGeom prst="rect">
            <a:avLst/>
          </a:prstGeom>
          <a:solidFill>
            <a:srgbClr val="F2F4F6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112264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A7682"/>
                </a:solidFill>
                <a:latin typeface="Times New Roman"/>
              </a:rPr>
              <a:t>THE BARE MINIMUM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532888"/>
            <a:ext cx="5163159" cy="2203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3414D"/>
                </a:solidFill>
                <a:latin typeface="Times New Roman"/>
              </a:rPr>
              <a:t>–  One model, hard-coded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3414D"/>
                </a:solidFill>
                <a:latin typeface="Times New Roman"/>
              </a:rPr>
              <a:t>–  Just a segmentation mask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3414D"/>
                </a:solidFill>
                <a:latin typeface="Times New Roman"/>
              </a:rPr>
              <a:t>–  No coordinates, no export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3414D"/>
                </a:solidFill>
                <a:latin typeface="Times New Roman"/>
              </a:rPr>
              <a:t>–  No metrics, no comparison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3414D"/>
                </a:solidFill>
                <a:latin typeface="Times New Roman"/>
              </a:rPr>
              <a:t>–  Run once, nothing saved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1965960"/>
            <a:ext cx="5565495" cy="2880360"/>
          </a:xfrm>
          <a:prstGeom prst="rect">
            <a:avLst/>
          </a:prstGeom>
          <a:solidFill>
            <a:srgbClr val="DCEBFA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7015" y="2112264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73E63"/>
                </a:solidFill>
                <a:latin typeface="Times New Roman"/>
              </a:rPr>
              <a:t>WHAT CANOPY ACTUALLY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7015" y="2532888"/>
            <a:ext cx="5163159" cy="2203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73E63"/>
                </a:solidFill>
                <a:latin typeface="Times New Roman"/>
              </a:rPr>
              <a:t>+  Two tile providers</a:t>
            </a:r>
            <a:r>
              <a:rPr sz="1250" b="0" i="0">
                <a:solidFill>
                  <a:srgbClr val="173E63"/>
                </a:solidFill>
                <a:latin typeface="Times New Roman"/>
              </a:rPr>
              <a:t> — ESRI &amp; Google, fetched in-browser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73E63"/>
                </a:solidFill>
                <a:latin typeface="Times New Roman"/>
              </a:rPr>
              <a:t>+  Model choice</a:t>
            </a:r>
            <a:r>
              <a:rPr sz="1250" b="0" i="0">
                <a:solidFill>
                  <a:srgbClr val="173E63"/>
                </a:solidFill>
                <a:latin typeface="Times New Roman"/>
              </a:rPr>
              <a:t> — 7 YOLO sizes · Mask R-CNN · DeepForest ± SAM 2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73E63"/>
                </a:solidFill>
                <a:latin typeface="Times New Roman"/>
              </a:rPr>
              <a:t>+  Ensembles</a:t>
            </a:r>
            <a:r>
              <a:rPr sz="1250" b="0" i="0">
                <a:solidFill>
                  <a:srgbClr val="173E63"/>
                </a:solidFill>
                <a:latin typeface="Times New Roman"/>
              </a:rPr>
              <a:t> — Weighted Box Fusion + cross-YOLO vote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73E63"/>
                </a:solidFill>
                <a:latin typeface="Times New Roman"/>
              </a:rPr>
              <a:t>+  Manage scans</a:t>
            </a:r>
            <a:r>
              <a:rPr sz="1250" b="0" i="0">
                <a:solidFill>
                  <a:srgbClr val="173E63"/>
                </a:solidFill>
                <a:latin typeface="Times New Roman"/>
              </a:rPr>
              <a:t> — name · hide · delete (cascade)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73E63"/>
                </a:solidFill>
                <a:latin typeface="Times New Roman"/>
              </a:rPr>
              <a:t>+  Live metrics</a:t>
            </a:r>
            <a:r>
              <a:rPr sz="1250" b="0" i="0">
                <a:solidFill>
                  <a:srgbClr val="173E63"/>
                </a:solidFill>
                <a:latin typeface="Times New Roman"/>
              </a:rPr>
              <a:t> — tree count · canopy coverage % · crown area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73E63"/>
                </a:solidFill>
                <a:latin typeface="Times New Roman"/>
              </a:rPr>
              <a:t>+  Geo + export</a:t>
            </a:r>
            <a:r>
              <a:rPr sz="1250" b="0" i="0">
                <a:solidFill>
                  <a:srgbClr val="173E63"/>
                </a:solidFill>
                <a:latin typeface="Times New Roman"/>
              </a:rPr>
              <a:t> — WGS-84 · GeoJSON / CSV / HTML · persistent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047488"/>
            <a:ext cx="111309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1">
                <a:solidFill>
                  <a:srgbClr val="33414D"/>
                </a:solidFill>
                <a:latin typeface="Times New Roman"/>
              </a:rPr>
              <a:t>None of these is required to “detect a tree” — each is a deliberate choice to make the system </a:t>
            </a:r>
            <a:r>
              <a:rPr sz="1400" b="1" i="0">
                <a:solidFill>
                  <a:srgbClr val="1A1A1A"/>
                </a:solidFill>
                <a:latin typeface="Times New Roman"/>
              </a:rPr>
              <a:t>usable, comparable and repeatable.</a:t>
            </a:r>
            <a:r>
              <a:rPr sz="1400" b="0" i="1">
                <a:solidFill>
                  <a:srgbClr val="33414D"/>
                </a:solidFill>
                <a:latin typeface="Times New Roman"/>
              </a:rPr>
              <a:t> That is where most of the engineering effort went.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2 · Depth &amp; completeness of the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A component of the system — inputs &amp;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A1A1A"/>
                </a:solidFill>
                <a:latin typeface="Times New Roman"/>
              </a:rPr>
              <a:t>Data, database &amp; hardware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965960"/>
            <a:ext cx="5669280" cy="137160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1965960"/>
            <a:ext cx="54864" cy="13716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075688"/>
            <a:ext cx="5358384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Dataset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High-zoom Astana captures (~0.3 m/px). We hand-labelled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~5,500 tree crowns</a:t>
            </a:r>
            <a:r>
              <a:rPr sz="1300" b="0" i="0">
                <a:solidFill>
                  <a:srgbClr val="33414D"/>
                </a:solidFill>
                <a:latin typeface="Times New Roman"/>
              </a:rPr>
              <a:t> across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~100 images</a:t>
            </a:r>
            <a:r>
              <a:rPr sz="1300" b="0" i="0">
                <a:solidFill>
                  <a:srgbClr val="33414D"/>
                </a:solidFill>
                <a:latin typeface="Times New Roman"/>
              </a:rPr>
              <a:t> as instance polygons (~8,700 tiles after 640+128 tiling). Held-out common set: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14 images · 702 trees</a:t>
            </a:r>
            <a:r>
              <a:rPr sz="1300" b="0" i="0">
                <a:solidFill>
                  <a:srgbClr val="33414D"/>
                </a:solidFill>
                <a:latin typeface="Times New Roman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3474720"/>
            <a:ext cx="5669280" cy="155448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3474720"/>
            <a:ext cx="54864" cy="155448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584448"/>
            <a:ext cx="5358384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Database — SQLite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scan_sessions → snapshots → runs → detections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One-to-many, ON DELETE CASCADE — delete a scan, its detections go too.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65392" y="1965960"/>
            <a:ext cx="5095951" cy="132588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5392" y="1965960"/>
            <a:ext cx="54864" cy="132588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9984" y="2075688"/>
            <a:ext cx="4785055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Hardware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RTX 4060 8 GB — YOLO + all common-set inference · RTX 4070 — Mask R-CNN · RTX 4050 — DeepForest. The 8 GB ceiling forces batch 2 + mixed precision — deliberately modest, to prove it runs </a:t>
            </a:r>
            <a:r>
              <a:rPr sz="1250" b="1" i="0">
                <a:solidFill>
                  <a:srgbClr val="1A1A1A"/>
                </a:solidFill>
                <a:latin typeface="Times New Roman"/>
              </a:rPr>
              <a:t>without a cluster.</a:t>
            </a:r>
          </a:p>
        </p:txBody>
      </p:sp>
      <p:pic>
        <p:nvPicPr>
          <p:cNvPr id="19" name="Picture 18" descr="yolo_v2_finetune_val_4til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429000"/>
            <a:ext cx="5095951" cy="1523074"/>
          </a:xfrm>
          <a:prstGeom prst="rect">
            <a:avLst/>
          </a:prstGeom>
          <a:ln w="12700">
            <a:solidFill>
              <a:srgbClr val="D7DEE4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1–2 · DB schema +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The maths, in plain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Three simple ideas — one comparison number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965960"/>
            <a:ext cx="5428335" cy="14173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1965960"/>
            <a:ext cx="54864" cy="14173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075688"/>
            <a:ext cx="5117439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1 · IoU — did the box land on the tree?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IoU = (overlap area) ÷ (combined area). 1.0 = perfect, 0 = miss. A tree counts as found when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IoU ≥ 0.5.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3520440"/>
            <a:ext cx="5428335" cy="14173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3520440"/>
            <a:ext cx="54864" cy="14173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630168"/>
            <a:ext cx="5117439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2 · Precision &amp; recall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Precision — of the trees we flagged, how many were real. Recall — of all real trees, how many we found: </a:t>
            </a:r>
            <a:r>
              <a:rPr sz="1300" b="1" i="0">
                <a:solidFill>
                  <a:srgbClr val="2E6DB4"/>
                </a:solidFill>
                <a:latin typeface="Times New Roman"/>
              </a:rPr>
              <a:t>ours ≈ 30%</a:t>
            </a:r>
            <a:r>
              <a:rPr sz="1300" b="0" i="0">
                <a:solidFill>
                  <a:srgbClr val="33414D"/>
                </a:solidFill>
                <a:latin typeface="Times New Roman"/>
              </a:rPr>
              <a:t> at the default setting.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965960"/>
            <a:ext cx="5428335" cy="14173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1965960"/>
            <a:ext cx="54864" cy="14173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599" y="2075688"/>
            <a:ext cx="5117439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3 · mAP@50 — the single score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Sweep the confidence threshold, track precision against recall, take the area under that curve (IoU ≥ 0.5). One honest number to compare every engine — the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0.315</a:t>
            </a:r>
            <a:r>
              <a:rPr sz="1300" b="0" i="0">
                <a:solidFill>
                  <a:srgbClr val="33414D"/>
                </a:solidFill>
                <a:latin typeface="Times New Roman"/>
              </a:rPr>
              <a:t> on the results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3520440"/>
            <a:ext cx="5428335" cy="14173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520440"/>
            <a:ext cx="54864" cy="14173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7599" y="3630168"/>
            <a:ext cx="5117439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How the two detectors work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YOLOv8 — one pass: grid → boxes + masks in a single look (fast). Mask R-CNN — two passes: propose regions, then refine (slower, careful).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1–2 · Mathematical support (≤ 10 pts)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011680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Four interchangeable engines · one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377440"/>
            <a:ext cx="9302191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2E6DB4"/>
                </a:solidFill>
                <a:latin typeface="Times New Roman"/>
              </a:rPr>
              <a:t>The system doesn't depend on one model — any of four can drive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297680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33414D"/>
                </a:solidFill>
                <a:latin typeface="Times New Roman"/>
              </a:rPr>
              <a:t>YOLOv8-seg (Rasul) · Mask R-CNN (Berik) · DeepForest + SAM 2 (Anuar) · plus two ensembles. Each plugs into the same automated pipeline and is scored on the same 14 images.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Team diploma — each member presents &amp; is scored on their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Engine #1 · Rasul Aidarkhanov · 23 experiments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YOLOv8x-seg — from 0.131 to 0.315</a:t>
            </a:r>
          </a:p>
        </p:txBody>
      </p:sp>
      <p:pic>
        <p:nvPicPr>
          <p:cNvPr id="10" name="Picture 9" descr="yolo_all_runs_map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11680"/>
            <a:ext cx="6126480" cy="2809889"/>
          </a:xfrm>
          <a:prstGeom prst="rect">
            <a:avLst/>
          </a:prstGeom>
          <a:ln w="12700">
            <a:solidFill>
              <a:srgbClr val="D7DEE4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0352" y="4876855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6A7682"/>
                </a:solidFill>
                <a:latin typeface="Times New Roman"/>
              </a:rPr>
              <a:t>Box mAP@50 across every experiment on the common 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1920240"/>
            <a:ext cx="473019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6400" b="1" i="0">
                <a:solidFill>
                  <a:srgbClr val="2E6DB4"/>
                </a:solidFill>
                <a:latin typeface="Times New Roman"/>
              </a:rPr>
              <a:t>+140%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788920"/>
            <a:ext cx="47301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Box mAP@50 over my own first model (0.131 → 0.315).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2" y="3246120"/>
            <a:ext cx="4730191" cy="9601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31152" y="3246120"/>
            <a:ext cx="54864" cy="9601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95744" y="3355848"/>
            <a:ext cx="4419295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What actually mattered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① Start from pretrained (COCO) weights · ② tile at the resolution you deploy at · ③ keep augmentation moderate.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31152" y="4343400"/>
            <a:ext cx="4730191" cy="100584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31152" y="4343400"/>
            <a:ext cx="54864" cy="10058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5744" y="4453128"/>
            <a:ext cx="441929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What I also found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Default augmentation beat hand-tuned; model size is U-shaped; run-to-run noise ≈ ±0.03 — so small gaps aren't 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 · Results + ablation · YOLOv8x-seg v4 · M14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Engine #2 · Berik Sharipov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1A1A1A"/>
                </a:solidFill>
                <a:latin typeface="Times New Roman"/>
              </a:rPr>
              <a:t>Mask R-CNN — the careful, mask-first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28800"/>
            <a:ext cx="111309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33414D"/>
                </a:solidFill>
                <a:latin typeface="Times New Roman"/>
              </a:rPr>
              <a:t>A classic two-stage, region-based detector. Where YOLO looks once, Mask R-CNN looks twice — propose, then refine — slower, but with naturally crisp instance masks. One of the swappable engines behind the same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697480"/>
            <a:ext cx="5428335" cy="128016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697480"/>
            <a:ext cx="54864" cy="12801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807208"/>
            <a:ext cx="5117439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How it works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An RPN suggests candidate boxes → RoIAlign crops each region → three heads output a box, a class and a per-pixel mask. Segmentation is built in, so outlines hug the crown.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4114800"/>
            <a:ext cx="5428335" cy="128016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" y="4114800"/>
            <a:ext cx="54864" cy="12801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4224528"/>
            <a:ext cx="5117439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How Berik trained 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Transfer-learned from a COCO-pretrained ResNet-50-FPN, fine-tuned on the same Astana tiles (v2 + v3), single “tree” class, same split. 50 epochs, SGD.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2697480"/>
            <a:ext cx="5428335" cy="128016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2697480"/>
            <a:ext cx="54864" cy="12801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7599" y="2807208"/>
            <a:ext cx="5117439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How it does on Astana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Box mAP@50 0.166, Mask 0.158. At conf 0.5: precision 0.44 · recall 0.22. Strongest on medium, well-separated crowns.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4114800"/>
            <a:ext cx="5428335" cy="128016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4114800"/>
            <a:ext cx="54864" cy="128016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7599" y="4224528"/>
            <a:ext cx="5117439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Why it stays in the app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Below YOLO overall — but it recovers some larger trees the others miss, and its masks are the cleanest. So the pipeline keeps it as a selectable engine.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Team member · Berik Sharipov · box 0.166 · mask 0.158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Engine #3 · Anuar Totin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A1A1A"/>
                </a:solidFill>
                <a:latin typeface="Times New Roman"/>
              </a:rPr>
              <a:t>DeepForest + SAM 2 — the forest specialist, re-taught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28800"/>
            <a:ext cx="111309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33414D"/>
                </a:solidFill>
                <a:latin typeface="Times New Roman"/>
              </a:rPr>
              <a:t>A two-part engine: DeepForest (a RetinaNet-style crown detector) finds the trees, then SAM 2 turns each box into a high-quality mask. It produced the 0.012 that started the whole project.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697480"/>
            <a:ext cx="5428335" cy="128016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697480"/>
            <a:ext cx="54864" cy="12801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807208"/>
            <a:ext cx="5117439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How it works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DeepForest outputs a box per crown; each box becomes a prompt for SAM 2, which segments the exact pixels — zero-shot, no extra training.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4114800"/>
            <a:ext cx="5428335" cy="128016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" y="4114800"/>
            <a:ext cx="54864" cy="12801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4224528"/>
            <a:ext cx="5117439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The domain problem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DeepForest is pretrained on North-American forest imagery. Pointed at a dry steppe city it was nearly blind — 0.012. A mismatch, not a bug.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2697480"/>
            <a:ext cx="5428335" cy="128016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2697480"/>
            <a:ext cx="54864" cy="12801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7599" y="2807208"/>
            <a:ext cx="5117439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How Anuar fixed 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Fine-tuned DeepForest on the Astana data (LR 1e-4, 30 ep) + SAM 2 masks. Result: 0.012 → 0.146 Box mAP@50 (Mask 0.134) — a ×12 jump.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4114800"/>
            <a:ext cx="5428335" cy="128016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4114800"/>
            <a:ext cx="54864" cy="128016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7599" y="4224528"/>
            <a:ext cx="5117439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Why it stays in the app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SAM 2 gives the best general-purpose masks of any engine, and the off-the-shelf → fine-tuned story is the project's core lesson.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Team member · Anuar Totin · 0.012 → 0.146 · ×12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A system choice, not a model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1A1A1A"/>
                </a:solidFill>
                <a:latin typeface="Times New Roman"/>
              </a:rPr>
              <a:t>Same garden, eight engines, eight answers</a:t>
            </a:r>
          </a:p>
        </p:txBody>
      </p:sp>
      <p:pic>
        <p:nvPicPr>
          <p:cNvPr id="10" name="Picture 9" descr="cross_model_8way_botanic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7" y="1874519"/>
            <a:ext cx="6583680" cy="3214443"/>
          </a:xfrm>
          <a:prstGeom prst="rect">
            <a:avLst/>
          </a:prstGeom>
          <a:ln w="12700">
            <a:solidFill>
              <a:srgbClr val="D7DEE4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0352" y="5195799"/>
            <a:ext cx="53826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33414D"/>
                </a:solidFill>
                <a:latin typeface="Times New Roman"/>
              </a:rPr>
              <a:t>The same Botanical Garden, scanned by eight engines — each outlines a different set of trees and reports a different count (672–819). None is simply “right”.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5195799"/>
            <a:ext cx="53826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33414D"/>
                </a:solidFill>
                <a:latin typeface="Times New Roman"/>
              </a:rPr>
              <a:t>So the system lets the operator switch engines and combine them — Weighted Box Fusion + a cross-YOLO 4-vote that drops single-model false positives. Choice is a feature.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 · Own contribution — design rationale · WBF · cross-YOLO vote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Head-to-head · same 14 images · 702 trees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One common test set, every model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1965960"/>
          <a:ext cx="557784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1280160"/>
                <a:gridCol w="1280160"/>
              </a:tblGrid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L="76200" marR="63500" marT="38100" marB="38100" anchor="ctr">
                    <a:solidFill>
                      <a:srgbClr val="173E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Box mAP@50</a:t>
                      </a:r>
                    </a:p>
                  </a:txBody>
                  <a:tcPr marL="76200" marR="63500" marT="38100" marB="38100" anchor="ctr">
                    <a:solidFill>
                      <a:srgbClr val="173E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Mask mAP@50</a:t>
                      </a:r>
                    </a:p>
                  </a:txBody>
                  <a:tcPr marL="76200" marR="63500" marT="38100" marB="38100" anchor="ctr">
                    <a:solidFill>
                      <a:srgbClr val="173E63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3E63"/>
                          </a:solidFill>
                          <a:latin typeface="Times New Roman"/>
                        </a:rPr>
                        <a:t>YOLOv8x-seg v4 (ours)</a:t>
                      </a:r>
                    </a:p>
                  </a:txBody>
                  <a:tcPr marL="76200" marR="63500" marT="38100" marB="38100" anchor="ctr">
                    <a:solidFill>
                      <a:srgbClr val="DCEB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3E63"/>
                          </a:solidFill>
                          <a:latin typeface="Times New Roman"/>
                        </a:rPr>
                        <a:t>0.315</a:t>
                      </a:r>
                    </a:p>
                  </a:txBody>
                  <a:tcPr marL="76200" marR="63500" marT="38100" marB="38100" anchor="ctr">
                    <a:solidFill>
                      <a:srgbClr val="DCEB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3E63"/>
                          </a:solidFill>
                          <a:latin typeface="Times New Roman"/>
                        </a:rPr>
                        <a:t>0.289</a:t>
                      </a:r>
                    </a:p>
                  </a:txBody>
                  <a:tcPr marL="76200" marR="63500" marT="38100" marB="38100" anchor="ctr">
                    <a:solidFill>
                      <a:srgbClr val="DCEBFA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Times New Roman"/>
                        </a:rPr>
                        <a:t>YOLOv8x-seg v3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6DB4"/>
                          </a:solidFill>
                          <a:latin typeface="Times New Roman"/>
                        </a:rPr>
                        <a:t>0.268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6DB4"/>
                          </a:solidFill>
                          <a:latin typeface="Times New Roman"/>
                        </a:rPr>
                        <a:t>0.244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Times New Roman"/>
                        </a:rPr>
                        <a:t>Mask R-CNN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6DB4"/>
                          </a:solidFill>
                          <a:latin typeface="Times New Roman"/>
                        </a:rPr>
                        <a:t>0.166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6DB4"/>
                          </a:solidFill>
                          <a:latin typeface="Times New Roman"/>
                        </a:rPr>
                        <a:t>0.158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Times New Roman"/>
                        </a:rPr>
                        <a:t>DeepForest + SAM 2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6DB4"/>
                          </a:solidFill>
                          <a:latin typeface="Times New Roman"/>
                        </a:rPr>
                        <a:t>0.146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6DB4"/>
                          </a:solidFill>
                          <a:latin typeface="Times New Roman"/>
                        </a:rPr>
                        <a:t>0.134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Times New Roman"/>
                        </a:rPr>
                        <a:t>YOLO v1 baseline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6DB4"/>
                          </a:solidFill>
                          <a:latin typeface="Times New Roman"/>
                        </a:rPr>
                        <a:t>0.131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6DB4"/>
                          </a:solidFill>
                          <a:latin typeface="Times New Roman"/>
                        </a:rPr>
                        <a:t>0.134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Times New Roman"/>
                        </a:rPr>
                        <a:t>NEON DeepForest (off-the-shelf)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6DB4"/>
                          </a:solidFill>
                          <a:latin typeface="Times New Roman"/>
                        </a:rPr>
                        <a:t>0.012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6DB4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76200" marR="63500" marT="38100" marB="38100" anchor="ctr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30352" y="461772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1">
                <a:solidFill>
                  <a:srgbClr val="33414D"/>
                </a:solidFill>
                <a:latin typeface="Times New Roman"/>
              </a:rPr>
              <a:t>Champion operating point (conf 0.25): </a:t>
            </a:r>
            <a:r>
              <a:rPr sz="1250" b="1" i="0">
                <a:solidFill>
                  <a:srgbClr val="1A1A1A"/>
                </a:solidFill>
                <a:latin typeface="Times New Roman"/>
              </a:rPr>
              <a:t>precision 0.52 · recall 0.29.</a:t>
            </a:r>
            <a:r>
              <a:rPr sz="1250" b="0" i="1">
                <a:solidFill>
                  <a:srgbClr val="33414D"/>
                </a:solidFill>
                <a:latin typeface="Times New Roman"/>
              </a:rPr>
              <a:t> Margins between top models are small — partly within run-to-run noise.</a:t>
            </a:r>
          </a:p>
        </p:txBody>
      </p:sp>
      <p:pic>
        <p:nvPicPr>
          <p:cNvPr id="12" name="Picture 11" descr="model_comparison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965960"/>
            <a:ext cx="5095951" cy="2175799"/>
          </a:xfrm>
          <a:prstGeom prst="rect">
            <a:avLst/>
          </a:prstGeom>
          <a:ln w="12700">
            <a:solidFill>
              <a:srgbClr val="D7DEE4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565392" y="4216868"/>
            <a:ext cx="50959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6A7682"/>
                </a:solidFill>
                <a:latin typeface="Times New Roman"/>
              </a:rPr>
              <a:t>These engines are in the same ballpark on Astana — what matters is that any of them can drive the 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1–2 · Results + comparison · M14 · 702 polygons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The 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A1A1A"/>
                </a:solidFill>
                <a:latin typeface="Times New Roman"/>
              </a:rPr>
              <a:t>Canopy — the system in use</a:t>
            </a:r>
          </a:p>
        </p:txBody>
      </p:sp>
      <p:pic>
        <p:nvPicPr>
          <p:cNvPr id="10" name="Picture 9" descr="ui_canopy_ma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65960"/>
            <a:ext cx="6309360" cy="3943350"/>
          </a:xfrm>
          <a:prstGeom prst="rect">
            <a:avLst/>
          </a:prstGeom>
          <a:ln w="12700">
            <a:solidFill>
              <a:srgbClr val="D7DEE4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7114032" y="1965960"/>
            <a:ext cx="4547311" cy="137160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14032" y="1965960"/>
            <a:ext cx="54864" cy="13716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78624" y="2075688"/>
            <a:ext cx="4236415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One flow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Select an area of Astana → the app tiles it, runs the chosen model, and draws every detected tree on the map — confidence filter, Point / Box / Polygon / Heat layers.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4032" y="3474720"/>
            <a:ext cx="4547311" cy="137160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14032" y="3474720"/>
            <a:ext cx="54864" cy="13716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4" y="3584448"/>
            <a:ext cx="4236415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Grows as you use 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33414D"/>
                </a:solidFill>
                <a:latin typeface="Times New Roman"/>
              </a:rPr>
              <a:t>Every scan is stored; the city map is the running aggregate of everything ever processed. Coverage and counts update live.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937760"/>
            <a:ext cx="45473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1">
                <a:solidFill>
                  <a:srgbClr val="6A7682"/>
                </a:solidFill>
                <a:latin typeface="Times New Roman"/>
              </a:rPr>
              <a:t>Counts in screenshots come from repeated demo scans — not a full city census.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1–2 · Information system built &amp; working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The choices that make it a tool, not a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Choose · combine · manage · measure</a:t>
            </a:r>
          </a:p>
        </p:txBody>
      </p:sp>
      <p:pic>
        <p:nvPicPr>
          <p:cNvPr id="10" name="Picture 9" descr="ui_canopy_scan_model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20240"/>
            <a:ext cx="3557930" cy="2223706"/>
          </a:xfrm>
          <a:prstGeom prst="rect">
            <a:avLst/>
          </a:prstGeom>
          <a:ln w="12700">
            <a:solidFill>
              <a:srgbClr val="D7DEE4"/>
            </a:solidFill>
          </a:ln>
        </p:spPr>
      </p:pic>
      <p:pic>
        <p:nvPicPr>
          <p:cNvPr id="11" name="Picture 10" descr="ui_canopy_library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882" y="1920240"/>
            <a:ext cx="3557930" cy="2223706"/>
          </a:xfrm>
          <a:prstGeom prst="rect">
            <a:avLst/>
          </a:prstGeom>
          <a:ln w="12700">
            <a:solidFill>
              <a:srgbClr val="D7DEE4"/>
            </a:solidFill>
          </a:ln>
        </p:spPr>
      </p:pic>
      <p:pic>
        <p:nvPicPr>
          <p:cNvPr id="12" name="Picture 11" descr="ui_canopy_map_h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412" y="1920240"/>
            <a:ext cx="3557930" cy="2223706"/>
          </a:xfrm>
          <a:prstGeom prst="rect">
            <a:avLst/>
          </a:prstGeom>
          <a:ln w="12700">
            <a:solidFill>
              <a:srgbClr val="D7DEE4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530352" y="4308538"/>
            <a:ext cx="3557930" cy="14173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4308538"/>
            <a:ext cx="54864" cy="14173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418266"/>
            <a:ext cx="3247034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6DB4"/>
                </a:solidFill>
                <a:latin typeface="Times New Roman"/>
              </a:rPr>
              <a:t>Choose &amp; combine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7 YOLO sizes · Mask R-CNN · DeepForest ± SAM 2 · WBF &amp; cross-YOLO vote — chosen per scan, with provider (ESRI / Google) and confidence.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6882" y="4308538"/>
            <a:ext cx="3557930" cy="14173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6882" y="4308538"/>
            <a:ext cx="54864" cy="14173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1474" y="4418266"/>
            <a:ext cx="3247034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6DB4"/>
                </a:solidFill>
                <a:latin typeface="Times New Roman"/>
              </a:rPr>
              <a:t>Manage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Every scan &amp; snapshot is renamable, hideable and deletable (cascade) from a library modal — the workspace stays usable over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3412" y="4308538"/>
            <a:ext cx="3557930" cy="14173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3412" y="4308538"/>
            <a:ext cx="54864" cy="14173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8004" y="4418266"/>
            <a:ext cx="3247034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6DB4"/>
                </a:solidFill>
                <a:latin typeface="Times New Roman"/>
              </a:rPr>
              <a:t>Measure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33414D"/>
                </a:solidFill>
                <a:latin typeface="Times New Roman"/>
              </a:rPr>
              <a:t>Density heat-map, per-area count, green-space coverage % and crown area inside a drawn polygon — metrics, not just dots.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2 · Feature depth of the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786384"/>
            <a:ext cx="11130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6DB4"/>
                </a:solidFill>
                <a:latin typeface="Times New Roman"/>
              </a:rPr>
              <a:t>The pipeline running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A1A1A"/>
                </a:solidFill>
                <a:latin typeface="Times New Roman"/>
              </a:rPr>
              <a:t>Live demo — automated scan of the Botanical Garden</a:t>
            </a:r>
          </a:p>
        </p:txBody>
      </p:sp>
      <p:pic>
        <p:nvPicPr>
          <p:cNvPr id="10" name="Picture 9" descr="canopy_demo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11680"/>
            <a:ext cx="6309360" cy="3549015"/>
          </a:xfrm>
          <a:prstGeom prst="rect">
            <a:avLst/>
          </a:prstGeom>
          <a:ln w="12700">
            <a:solidFill>
              <a:srgbClr val="D7DEE4"/>
            </a:solidFill>
          </a:ln>
        </p:spPr>
      </p:pic>
      <p:sp>
        <p:nvSpPr>
          <p:cNvPr id="11" name="Isosceles Triangle 10"/>
          <p:cNvSpPr/>
          <p:nvPr/>
        </p:nvSpPr>
        <p:spPr>
          <a:xfrm rot="5400000">
            <a:off x="3364992" y="3063240"/>
            <a:ext cx="640080" cy="64008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14032" y="2011680"/>
            <a:ext cx="4547311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14032" y="2011680"/>
            <a:ext cx="54864" cy="109728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8624" y="2121408"/>
            <a:ext cx="4236415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What you're seeing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The v4 engine scanning the Botanical Garden end-to-end in Canopy: tile → detect → map, every tree drawn live.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4032" y="3246120"/>
            <a:ext cx="4547311" cy="100584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14032" y="3246120"/>
            <a:ext cx="54864" cy="10058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8624" y="3355848"/>
            <a:ext cx="423641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Why this scene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A dense, well-defined planting — the clearest case. Honest reminder: on sparser scenes recall drops.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14032" y="4389120"/>
            <a:ext cx="4547311" cy="9601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14032" y="4389120"/>
            <a:ext cx="54864" cy="9601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8624" y="4498848"/>
            <a:ext cx="4236415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Full recording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2E6DB4"/>
                </a:solidFill>
                <a:latin typeface="Times New Roman"/>
              </a:rPr>
              <a:t>drive.google.com/file/d/1OceaLC4yMEgLtIThVR8t7_B4VRRPNaNf/view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642263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1">
                <a:solidFill>
                  <a:srgbClr val="6A7682"/>
                </a:solidFill>
                <a:latin typeface="Times New Roman"/>
              </a:rPr>
              <a:t>Replace this poster with the embedded video in Canva (assets/canopy_demo.mp4).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2 · Demonstration of the working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914400"/>
            <a:ext cx="111309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A1A1A"/>
                </a:solidFill>
                <a:latin typeface="Times New Roman"/>
              </a:rPr>
              <a:t>Conclusion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645920"/>
            <a:ext cx="5382615" cy="11887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645920"/>
            <a:ext cx="54864" cy="11887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55648"/>
            <a:ext cx="5071719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O1 · Dataset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Custom Astana dataset built from scratch — ~100 images, ~5,500 crown polygons (~8,700 tiles); held-out M14 = 14 images / 702 trees.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645920"/>
            <a:ext cx="5382615" cy="11887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1645920"/>
            <a:ext cx="54864" cy="11887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3319" y="1755648"/>
            <a:ext cx="5071719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O2 · Detection engines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Four engines trained &amp; compared; YOLOv8x-seg leads at Box mAP@50 = 0.315 (+140% over our v1 baseline).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017520"/>
            <a:ext cx="5382615" cy="11887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017520"/>
            <a:ext cx="54864" cy="11887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127248"/>
            <a:ext cx="5071719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O3 · Ensembles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WBF + cross-YOLO vote implemented in the system — choice and combination exposed to the operator.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3017520"/>
            <a:ext cx="5382615" cy="11887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3017520"/>
            <a:ext cx="54864" cy="11887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3127248"/>
            <a:ext cx="5071719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O4 · Fair evaluation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Every engine scored on one common set — the first such measurement for Astana (off-the-shelf ≈ 0.012).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4389120"/>
            <a:ext cx="5382615" cy="1188720"/>
          </a:xfrm>
          <a:prstGeom prst="rect">
            <a:avLst/>
          </a:prstGeom>
          <a:solidFill>
            <a:srgbClr val="EEF4FB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4389120"/>
            <a:ext cx="54864" cy="1188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4498848"/>
            <a:ext cx="5071719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O5 · The system — Canopy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FastAPI + React + SQLite + Leaflet, deployed: provider &amp; model choice, ensembles, manage, live metrics, geo + export.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727" y="4389120"/>
            <a:ext cx="5382615" cy="1188720"/>
          </a:xfrm>
          <a:prstGeom prst="rect">
            <a:avLst/>
          </a:prstGeom>
          <a:solidFill>
            <a:srgbClr val="DCEBFA"/>
          </a:solidFill>
          <a:ln w="9525">
            <a:solidFill>
              <a:srgbClr val="CFE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8727" y="4389120"/>
            <a:ext cx="54864" cy="11887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3319" y="4498848"/>
            <a:ext cx="5071719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DB4"/>
                </a:solidFill>
                <a:latin typeface="Times New Roman"/>
              </a:rPr>
              <a:t>The headline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414D"/>
                </a:solidFill>
                <a:latin typeface="Times New Roman"/>
              </a:rPr>
              <a:t>Not a score — a manual task is now an automated system. Accuracy is modest and honestly so; the system is the contribution.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6291072"/>
            <a:ext cx="11130991" cy="10972"/>
          </a:xfrm>
          <a:prstGeom prst="rect">
            <a:avLst/>
          </a:prstGeom>
          <a:solidFill>
            <a:srgbClr val="D7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355080"/>
            <a:ext cx="10582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Criterion 1 · Conclusions map 1:1 to tasks · manual → automated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12703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A7682"/>
                </a:solidFill>
                <a:latin typeface="Times New Roman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i_canopy_botanical_p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0"/>
            <a:ext cx="1209219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gradFill rotWithShape="1">
            <a:gsLst>
              <a:gs pos="0">
                <a:srgbClr val="173E63"/>
              </a:gs>
              <a:gs pos="100000">
                <a:srgbClr val="29ABE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74375" y="0"/>
            <a:ext cx="1417320" cy="5486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0"/>
            <a:ext cx="731520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566928" y="713232"/>
            <a:ext cx="731520" cy="274320"/>
          </a:xfrm>
          <a:prstGeom prst="triangl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09728"/>
            <a:ext cx="365760" cy="36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74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828800"/>
            <a:ext cx="573008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2E6DB4"/>
                </a:solidFill>
                <a:latin typeface="Times New Roman"/>
              </a:rPr>
              <a:t>Thank you — we'll gladly answer your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023360"/>
            <a:ext cx="573008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33414D"/>
                </a:solidFill>
                <a:latin typeface="Times New Roman"/>
              </a:rPr>
              <a:t>From a manual, one-by-one task to an automated tree-mapping system for Astana — a working tool anyone can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5212080"/>
            <a:ext cx="5730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682"/>
                </a:solidFill>
                <a:latin typeface="Times New Roman"/>
              </a:rPr>
              <a:t>Rasul Aidarkhanov · Berik Sharipov · Anuar Totin   |   Supervisor: S. Satbayev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